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bb840ab24548a3" /><Relationship Type="http://schemas.openxmlformats.org/officeDocument/2006/relationships/extended-properties" Target="/docProps/app.xml" Id="R7ad0d0b2daf94f04" /><Relationship Type="http://schemas.openxmlformats.org/officeDocument/2006/relationships/officeDocument" Target="/ppt/presentation.xml" Id="Rc8f64bb7fcf14f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3452028ba94712"/>
  </p:sldMasterIdLst>
  <p:notesMasterIdLst>
    <p:notesMasterId xmlns:r="http://schemas.openxmlformats.org/officeDocument/2006/relationships" r:id="R32327a38af604e6e"/>
  </p:notesMasterIdLst>
  <p:sldIdLst>
    <p:sldId xmlns:r="http://schemas.openxmlformats.org/officeDocument/2006/relationships" id="256" r:id="R38ece24b29c84780"/>
    <p:sldId xmlns:r="http://schemas.openxmlformats.org/officeDocument/2006/relationships" id="257" r:id="R32d9376d808d413a"/>
    <p:sldId xmlns:r="http://schemas.openxmlformats.org/officeDocument/2006/relationships" id="258" r:id="R58f257f739074cf0"/>
    <p:sldId xmlns:r="http://schemas.openxmlformats.org/officeDocument/2006/relationships" id="259" r:id="R234608ecc37d4308"/>
    <p:sldId xmlns:r="http://schemas.openxmlformats.org/officeDocument/2006/relationships" id="260" r:id="R92af5654427049cc"/>
    <p:sldId xmlns:r="http://schemas.openxmlformats.org/officeDocument/2006/relationships" id="261" r:id="R9b466ed97ffd4a0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74b5519b044bbd" /><Relationship Type="http://schemas.openxmlformats.org/officeDocument/2006/relationships/slideMaster" Target="/ppt/slideMasters/slideMaster1.xml" Id="R973452028ba94712" /><Relationship Type="http://schemas.openxmlformats.org/officeDocument/2006/relationships/notesMaster" Target="/ppt/notesMasters/notesMaster1.xml" Id="R32327a38af604e6e" /><Relationship Type="http://schemas.openxmlformats.org/officeDocument/2006/relationships/presProps" Target="/ppt/presProps.xml" Id="Rdec22bc5a5724bc7" /><Relationship Type="http://schemas.openxmlformats.org/officeDocument/2006/relationships/tableStyles" Target="/ppt/tableStyles.xml" Id="R6954244ba57643ec" /><Relationship Type="http://schemas.openxmlformats.org/officeDocument/2006/relationships/slide" Target="/ppt/slides/slide1.xml" Id="R38ece24b29c84780" /><Relationship Type="http://schemas.openxmlformats.org/officeDocument/2006/relationships/slide" Target="/ppt/slides/slide2.xml" Id="R32d9376d808d413a" /><Relationship Type="http://schemas.openxmlformats.org/officeDocument/2006/relationships/slide" Target="/ppt/slides/slide3.xml" Id="R58f257f739074cf0" /><Relationship Type="http://schemas.openxmlformats.org/officeDocument/2006/relationships/slide" Target="/ppt/slides/slide4.xml" Id="R234608ecc37d4308" /><Relationship Type="http://schemas.openxmlformats.org/officeDocument/2006/relationships/slide" Target="/ppt/slides/slide5.xml" Id="R92af5654427049cc" /><Relationship Type="http://schemas.openxmlformats.org/officeDocument/2006/relationships/slide" Target="/ppt/slides/slide6.xml" Id="R9b466ed97ffd4a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1ca5dbb4be45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cb7541fdc24463" /><Relationship Type="http://schemas.openxmlformats.org/officeDocument/2006/relationships/notesMaster" Target="/ppt/notesMasters/notesMaster1.xml" Id="R4d05e422d80940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fc033654514d31" /><Relationship Type="http://schemas.openxmlformats.org/officeDocument/2006/relationships/notesMaster" Target="/ppt/notesMasters/notesMaster1.xml" Id="R08d24f8b283f4f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60520e009f4cd8" /><Relationship Type="http://schemas.openxmlformats.org/officeDocument/2006/relationships/notesMaster" Target="/ppt/notesMasters/notesMaster1.xml" Id="Rc2a71ccf01e748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cbf8fd3ad84989" /><Relationship Type="http://schemas.openxmlformats.org/officeDocument/2006/relationships/notesMaster" Target="/ppt/notesMasters/notesMaster1.xml" Id="R4f52526f6d2d44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f436f47dff49f8" /><Relationship Type="http://schemas.openxmlformats.org/officeDocument/2006/relationships/notesMaster" Target="/ppt/notesMasters/notesMaster1.xml" Id="R77d0aa2930ac40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fd3c0dd9f64b49" /><Relationship Type="http://schemas.openxmlformats.org/officeDocument/2006/relationships/notesMaster" Target="/ppt/notesMasters/notesMaster1.xml" Id="Ra42c8806f6074d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3ce0c6dcb444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278d1082e14c7f" /><Relationship Type="http://schemas.openxmlformats.org/officeDocument/2006/relationships/slideLayout" Target="/ppt/slideLayouts/slideLayout1.xml" Id="R527e5d0bf18e46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7e5d0bf18e46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5b8101cd44930" /><Relationship Type="http://schemas.openxmlformats.org/officeDocument/2006/relationships/notesSlide" Target="/ppt/notesSlides/notesSlide1.xml" Id="R4d26e06496aa4f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75d347ed34080" /><Relationship Type="http://schemas.openxmlformats.org/officeDocument/2006/relationships/notesSlide" Target="/ppt/notesSlides/notesSlide2.xml" Id="R5b19f4a100834d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a6053839a4165" /><Relationship Type="http://schemas.openxmlformats.org/officeDocument/2006/relationships/notesSlide" Target="/ppt/notesSlides/notesSlide3.xml" Id="R512d6e8ee5c14a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4d85f6df347ca" /><Relationship Type="http://schemas.openxmlformats.org/officeDocument/2006/relationships/notesSlide" Target="/ppt/notesSlides/notesSlide4.xml" Id="R4926fe0b91384d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6e535e9b3414b" /><Relationship Type="http://schemas.openxmlformats.org/officeDocument/2006/relationships/notesSlide" Target="/ppt/notesSlides/notesSlide5.xml" Id="R6ea1521befbb44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2d46c4a16482b" /><Relationship Type="http://schemas.openxmlformats.org/officeDocument/2006/relationships/notesSlide" Target="/ppt/notesSlides/notesSlide6.xml" Id="R4fd6a5666c0a49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01ACC8-41EE-415A-98C1-63E59077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Research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53D25-589A-4AA3-8E43-8EFD83B5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SEBA-XAI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75B3C-85E4-40DC-A488-B92B267B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Secure, Explainable, Blockchain-Audited access governance for sensitive inter-agency police data sharing.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F8F7F-72A6-4051-978A-F7DD88D7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143000"/>
            <a:ext cx="3048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F7C99-D7B1-4A9F-A250-695F2B55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002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Not the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D706A-C8C6-4621-982C-E2D037E3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336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Replacing CCTNS/ICJS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Predicting criminals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Putting raw records on-chain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Claiming live deployment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94AD2-4047-4462-BB77-E087E3E6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609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B5FCB-53BE-4FC1-8D8C-3FE54F09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560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Actual focus: access decisions that can be controlled, audited, and explained later.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3200E-0ED0-4042-9D1A-69F2A853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SEBA-XAI | research idea brief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31322-CFD0-4474-B9E6-84ABB93E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112877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6CF2E2-5D52-49AD-A842-B71C9291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EFA83-4E10-401A-ACC6-DFF2DE2A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Police records are not ordinary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8917D-3C06-4C05-ABA6-79CACB0F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A broad role such as police officer is too weak for sensitive inter-agency access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47FF2-D61B-4273-BC90-A3838C8C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SEBA-XAI | research idea 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3622A-C818-4C9E-B573-95E87C46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7D9EE-8723-4AC4-8363-76514FA6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33718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E4826-A18F-42F3-A5C1-9F794BDD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Sensitive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E66BF-596E-434C-A01E-91DE60AE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FIR details, victim or witness data, juvenile records, forensic reports, cybercrime complaints, case diary material, evidence references, court-linked files.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57E1A-6698-4845-88FA-49100D37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28900"/>
            <a:ext cx="33718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F1835-F47E-42D8-8EC3-BDA39F2E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194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Realistic requesters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603B8-D9EE-48AA-8AA6-DD6150D7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3850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Investigating officer, ranked/supervisory officer, forensic expert, lab specialist, prosecutor or court authority, auditor.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EFC8AB-DE24-4E41-AE39-B55CB247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33718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46C7AA-3B39-46A5-B080-81ADE5D2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194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Decision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7220A-8026-40B2-8791-8BA6CA4F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3850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Role alone is not enough. The decision depends on jurisdiction, case assignment, purpose, sensitivity, approval state, credential status, and emergency context.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D55F3C-C0B3-440F-81C5-0034D6F7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72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F6CEB5-BCA9-43FE-BDC5-688A806A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Research question: decide allow, deny, or escalate access, then preserve reviewable decision evidence.</a:t>
            </a:r>
          </a:p>
        </p:txBody>
      </p:sp>
    </p:spTree>
    <p:extLst>
      <p:ext uri="{BB962C8B-B14F-4D97-AF65-F5344CB8AC3E}">
        <p14:creationId xmlns:p14="http://schemas.microsoft.com/office/powerpoint/2010/main" val="7736771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039532-6CFF-4554-A2EF-D0F3B577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3D6F2-DBE7-4E45-BB8A-01547D83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Three pillars work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C3938-0ACE-4019-82A6-438A6699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novelty is not one technology alone. The idea is their controlled integration around access governance.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A1749-9639-4D16-B95A-2D9FD08E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SEBA-XAI | research idea 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60405-9CDA-4B27-ABF5-66AB20FA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3F39AD-B87F-4E15-9D69-7CC46A72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D972A9-A013-4CC6-B12D-8CAA6E8E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6B35"/>
                </a:solidFill>
              </a:defRPr>
            </a:pPr>
            <a:r>
              <a:rPr sz="405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2428F-559A-459B-97E9-9BA831DB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Security and access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F6D6A-E75A-42F6-9D62-2391ACD6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5290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RBAC + ABAC + PBAC-style rules decide allow, deny, or escalate.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00F2A-F988-4F3D-9089-E15B64AE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52700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DFC249-94B6-4A86-8824-4650C2B7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051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6B35"/>
                </a:solidFill>
              </a:defRPr>
            </a:pPr>
            <a:r>
              <a:rPr sz="4050" b="1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B38E5E-91CF-4426-B094-DA9E1E07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290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Blockchain audit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B9003-C3E3-4A12-86DF-6B5AC962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52900"/>
            <a:ext cx="219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Stores request IDs, policy versions, hashes, approvals, and audit commitments.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86D9E-062C-4DE8-8C51-E5EA4D9D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52700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5D8D5-0F8D-4DC5-B6DA-F134DFBB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051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6B35"/>
                </a:solidFill>
              </a:defRPr>
            </a:pPr>
            <a:r>
              <a:rPr sz="405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098A38-AE8E-4023-9051-E7088183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290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Explainable AI artifacts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818808-136E-417B-8F15-D09D21EF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52900"/>
            <a:ext cx="219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Records reason code, decisive attributes, policy version, and explanation hash.</a:t>
            </a:r>
          </a:p>
        </p:txBody>
      </p:sp>
    </p:spTree>
    <p:extLst>
      <p:ext uri="{BB962C8B-B14F-4D97-AF65-F5344CB8AC3E}">
        <p14:creationId xmlns:p14="http://schemas.microsoft.com/office/powerpoint/2010/main" val="1363995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80E3D2-BEFD-4D94-AD21-88D49CC6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System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4FCDC5-6138-4526-92CC-99FA74A9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What happens when access is requested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C1BAF-4A77-413E-8BDA-563B3DE2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Raw sensitive records stay with the agency. The shared layer stores evidence and commitments, not the full record.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31A9B-8947-4DA5-96EE-DB4D20C6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SEBA-XAI | research idea 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1F1B9-AE43-447E-90A4-CE4DA92D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1E8D9-CDF0-4037-864A-D6A56395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23050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F1592-5D3D-42DC-A3DB-F925ADCD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Access request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CA0BF-7A59-44E5-B453-E72B9073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88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Requester, record, action, purpose,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400D0-FB7F-47DB-A8FA-1EBDBE89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33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9FB182-1C42-44BE-8EE8-6B9BC973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24150"/>
            <a:ext cx="23050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9968D1-A09C-440F-9393-DE29E82C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146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Policy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D99BB7-4009-49F7-8C70-B064A623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33750"/>
            <a:ext cx="188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RBAC/ABAC/PBAC rules produce allow, deny, escalate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DBE16E-D380-4855-A3A6-37CA35FE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333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E84C1-2A59-4976-8876-DCEB637B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23050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A7A98B-7FC5-494F-B23C-EBD31FB8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XAI 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97CA2B-515F-42C3-81EA-5B4094F2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3750"/>
            <a:ext cx="188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Reason code, decisive attributes, counterfactual note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822E04-665E-426F-93E6-EB56EFF0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D7D94B-E51A-4376-A52A-1868248D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24150"/>
            <a:ext cx="23050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610972-BF39-4C9E-8FFC-05B4A667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146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Audit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1EB81F-15D8-4108-A71D-AAFD658E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33750"/>
            <a:ext cx="188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Hash-chain or permissioned blockchain-style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27BAC1-00D6-42E9-8790-F32326C2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76800"/>
            <a:ext cx="9639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0C9CAE-9C66-4F56-B07A-F956AF1F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292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Off-chain principle: raw records stay with agencies.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Ledger stores hashes, policy IDs, approvals, and XAI commitments.</a:t>
            </a:r>
          </a:p>
        </p:txBody>
      </p:sp>
    </p:spTree>
    <p:extLst>
      <p:ext uri="{BB962C8B-B14F-4D97-AF65-F5344CB8AC3E}">
        <p14:creationId xmlns:p14="http://schemas.microsoft.com/office/powerpoint/2010/main" val="12757275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44C6BA-D82C-4300-A00C-3105D1BA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Prototype and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4FD5F-F005-46CE-9468-56D39312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What has been built for 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2DA73-E41E-442F-9007-29A33316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current evidence is synthetic and reproducible. It supports prototype claims, not real deployment claims.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70D4D-B767-403E-8BD1-617D367F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SEBA-XAI | research idea 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72156-8543-46EF-A9D1-9C653B67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EBA96-4175-4C31-A5AC-0291EECB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3429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CB5C4-C39D-4DA3-9A58-A4C4B9D9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Workload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8CB29-1171-42D3-B376-CC948BA5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3009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Synthetic inter-agency access requests with officer, record, purpose, jurisdiction, approval, and sensitivity attributes.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C99AE-824F-40D9-A41D-69053AD7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14600"/>
            <a:ext cx="3429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F3F13-52DB-4FC5-9D75-BB3F7756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051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Comparisons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066DF-D61A-4BA4-B6F7-683EA485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24200"/>
            <a:ext cx="3009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RBAC baseline, ABAC/PBAC oracle, mutable log, signed hash chain, blockchain-style audit, and policy re-checking baselines.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E45A32-506A-4AE8-AB1E-126AA0B1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14600"/>
            <a:ext cx="3429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374D35-3391-4A40-96D3-1B63658F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051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Stress 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8A44D8-CBC0-4879-A668-8F156765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24200"/>
            <a:ext cx="3009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Ordinary tampering, validly re-signed corrupted decisions, metadata exposure, latency, storage, ablations, and XAI audit quality.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74258E-8F4D-4F56-BC73-8623087E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72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EA61DB-23FF-49F4-8B41-C53FFC2F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Important finding direction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186B6E-CF69-4587-AE02-1F0DD8DB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33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Integrity-only audit can catch ordinary tampering, but a validly re-signed corrupted decision needs stronger policy/XAI review assumptions.</a:t>
            </a:r>
          </a:p>
        </p:txBody>
      </p:sp>
    </p:spTree>
    <p:extLst>
      <p:ext uri="{BB962C8B-B14F-4D97-AF65-F5344CB8AC3E}">
        <p14:creationId xmlns:p14="http://schemas.microsoft.com/office/powerpoint/2010/main" val="13714565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8D4DB6-BCB6-438C-8530-E0CD78FF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Discussion with professor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2A21B-1D43-4A07-A4BE-2C5F6DED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What I need guidance on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1BD25-34A3-46AA-AA73-368C8704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research is ready to be positioned, but the paper framing must stay honest and publishable.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4235A-460D-4334-8F37-BD912724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SEBA-XAI | research idea 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3A316-DF87-4CC7-8103-32E9BAB0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1218F-1135-47B6-80F3-5285478D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4762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1F5D4-F54E-4A35-A223-81F710A1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Contribution wording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8B527-4884-47CE-9208-76D43F2E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1. Layered access-control service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2. Blockchain-style tamper-evident audit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3. Explainable access-decision service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4. Synthetic benchmark with baselines and attacks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A7A1D1-F45D-440C-AF11-E5F01E33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81250"/>
            <a:ext cx="5905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8C171-46D5-49E0-B936-44F0A27D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289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Questions to 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727B55-0FF7-42D5-9DCA-DCD6F906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040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Is the problem statement strong enough?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Should this be framed as a prototype/evaluation paper?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Is synthetic data acceptable for the first submission?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Which venue should we target?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7F95D-9C1B-4413-B893-8826FD8B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1372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CB68FC-654E-42C8-9F53-990732D6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1087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Boundary: no real CCTNS/ICJS deployment, no real police records, no legal-compliance claim, no crime-prediction claim.</a:t>
            </a:r>
          </a:p>
        </p:txBody>
      </p:sp>
    </p:spTree>
    <p:extLst>
      <p:ext uri="{BB962C8B-B14F-4D97-AF65-F5344CB8AC3E}">
        <p14:creationId xmlns:p14="http://schemas.microsoft.com/office/powerpoint/2010/main" val="18346162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2026-06-29T06:21:59.1920000Z</dcterms:created>
  <dcterms:modified xsi:type="dcterms:W3CDTF">2026-06-29T06:21:59.1920000Z</dcterms:modified>
</coreProperties>
</file>